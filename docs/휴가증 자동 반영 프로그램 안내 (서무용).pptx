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65760" cy="685800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0515600" cy="4572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1600" b="1">
                <a:solidFill>
                  <a:srgbClr val="C8102E"/>
                </a:solidFill>
                <a:latin typeface="맑은 고딕"/>
              </a:rPr>
              <a:t>COSMAX · 생산3팀 파우더 성형실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194560"/>
            <a:ext cx="10515600" cy="13716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4800" b="1">
                <a:solidFill>
                  <a:srgbClr val="1A1A1A"/>
                </a:solidFill>
                <a:latin typeface="맑은 고딕"/>
              </a:rPr>
              <a:t>휴가증 자동 반영 프로그램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657600"/>
            <a:ext cx="10515600" cy="54864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2200" b="0">
                <a:solidFill>
                  <a:srgbClr val="777777"/>
                </a:solidFill>
                <a:latin typeface="맑은 고딕"/>
              </a:rPr>
              <a:t>서무 담당자 안내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4297680"/>
            <a:ext cx="1828800" cy="3810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5029200"/>
            <a:ext cx="10515600" cy="9144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1800" b="0">
                <a:solidFill>
                  <a:srgbClr val="1A1A1A"/>
                </a:solidFill>
                <a:latin typeface="맑은 고딕"/>
              </a:rPr>
              <a:t>매일 하는 일은 세 번의 클릭입니다.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6126480"/>
            <a:ext cx="10515600" cy="36576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1100" b="0">
                <a:solidFill>
                  <a:srgbClr val="777777"/>
                </a:solidFill>
                <a:latin typeface="맑은 고딕"/>
              </a:rPr>
              <a:t>발행: 2026-08-26  ·  담당: 이동준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247120" cy="54864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1. 매일 하는 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43000"/>
            <a:ext cx="10698480" cy="4572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ctr"/>
            <a:r>
              <a:rPr sz="1500" b="0">
                <a:solidFill>
                  <a:srgbClr val="1A1A1A"/>
                </a:solidFill>
                <a:latin typeface="맑은 고딕"/>
              </a:rPr>
              <a:t>화면 오른쪽 위 버튼을 ① ② ③ 순서대로 누르면 끝입니다.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5167" y="1783080"/>
            <a:ext cx="3444240" cy="2651760"/>
          </a:xfrm>
          <a:prstGeom prst="roundRect">
            <a:avLst>
              <a:gd name="adj" fmla="val 12000"/>
            </a:avLst>
          </a:prstGeom>
          <a:solidFill>
            <a:srgbClr val="FF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5167" y="1965960"/>
            <a:ext cx="3444240" cy="64008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ctr"/>
            <a:r>
              <a:rPr sz="3600" b="1">
                <a:solidFill>
                  <a:srgbClr val="C8102E"/>
                </a:solidFill>
                <a:latin typeface="맑은 고딕"/>
              </a:rPr>
              <a:t>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5167" y="2743200"/>
            <a:ext cx="3444240" cy="4572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ctr"/>
            <a:r>
              <a:rPr sz="1700" b="1">
                <a:solidFill>
                  <a:srgbClr val="1A1A1A"/>
                </a:solidFill>
                <a:latin typeface="맑은 고딕"/>
              </a:rPr>
              <a:t>서버에서 불러오기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5167" y="3291840"/>
            <a:ext cx="3444240" cy="100584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ctr"/>
            <a:r>
              <a:rPr sz="1250" b="0">
                <a:solidFill>
                  <a:srgbClr val="777777"/>
                </a:solidFill>
                <a:latin typeface="맑은 고딕"/>
              </a:rPr>
              <a:t>작업자가 올린 휴가증을
가져옵니다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73727" y="1783080"/>
            <a:ext cx="3444240" cy="2651760"/>
          </a:xfrm>
          <a:prstGeom prst="roundRect">
            <a:avLst>
              <a:gd name="adj" fmla="val 12000"/>
            </a:avLst>
          </a:prstGeom>
          <a:solidFill>
            <a:srgbClr val="FF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73727" y="1965960"/>
            <a:ext cx="3444240" cy="64008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ctr"/>
            <a:r>
              <a:rPr sz="3600" b="1">
                <a:solidFill>
                  <a:srgbClr val="C8102E"/>
                </a:solidFill>
                <a:latin typeface="맑은 고딕"/>
              </a:rPr>
              <a:t>②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73727" y="2743200"/>
            <a:ext cx="3444240" cy="4572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ctr"/>
            <a:r>
              <a:rPr sz="1700" b="1">
                <a:solidFill>
                  <a:srgbClr val="1A1A1A"/>
                </a:solidFill>
                <a:latin typeface="맑은 고딕"/>
              </a:rPr>
              <a:t>파일로 내보내기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73727" y="3291840"/>
            <a:ext cx="3444240" cy="100584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ctr"/>
            <a:r>
              <a:rPr sz="1250" b="0">
                <a:solidFill>
                  <a:srgbClr val="777777"/>
                </a:solidFill>
                <a:latin typeface="맑은 고딕"/>
              </a:rPr>
              <a:t>JSON · XLSX 가
다운로드 폴더에 저장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92287" y="1783080"/>
            <a:ext cx="3444240" cy="2651760"/>
          </a:xfrm>
          <a:prstGeom prst="roundRect">
            <a:avLst>
              <a:gd name="adj" fmla="val 12000"/>
            </a:avLst>
          </a:prstGeom>
          <a:solidFill>
            <a:srgbClr val="FF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92287" y="1965960"/>
            <a:ext cx="3444240" cy="64008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ctr"/>
            <a:r>
              <a:rPr sz="3600" b="1">
                <a:solidFill>
                  <a:srgbClr val="C8102E"/>
                </a:solidFill>
                <a:latin typeface="맑은 고딕"/>
              </a:rPr>
              <a:t>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92287" y="2743200"/>
            <a:ext cx="3444240" cy="4572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ctr"/>
            <a:r>
              <a:rPr sz="1700" b="1">
                <a:solidFill>
                  <a:srgbClr val="1A1A1A"/>
                </a:solidFill>
                <a:latin typeface="맑은 고딕"/>
              </a:rPr>
              <a:t>프로그램 실행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92287" y="3291840"/>
            <a:ext cx="3444240" cy="100584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ctr"/>
            <a:r>
              <a:rPr sz="1250" b="0">
                <a:solidFill>
                  <a:srgbClr val="777777"/>
                </a:solidFill>
                <a:latin typeface="맑은 고딕"/>
              </a:rPr>
              <a:t>자동화가 그룹웨어에
임시저장합니다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5167" y="4709160"/>
            <a:ext cx="10881360" cy="77724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29487" y="4709160"/>
            <a:ext cx="10332720" cy="77724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/>
            <a:r>
              <a:rPr sz="1350" b="1">
                <a:solidFill>
                  <a:srgbClr val="1A1A1A"/>
                </a:solidFill>
                <a:latin typeface="맑은 고딕"/>
              </a:rPr>
              <a:t>④ 그룹웨어에서 내용을 검토하고 직접 신청합니다 — 마지막 확인은 사람이 합니다.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5167" y="5623560"/>
            <a:ext cx="10881360" cy="685800"/>
          </a:xfrm>
          <a:prstGeom prst="roundRect">
            <a:avLst>
              <a:gd name="adj" fmla="val 12000"/>
            </a:avLst>
          </a:prstGeom>
          <a:solidFill>
            <a:srgbClr val="FF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29487" y="5623560"/>
            <a:ext cx="10332720" cy="68580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/>
            <a:r>
              <a:rPr sz="1350" b="1">
                <a:solidFill>
                  <a:srgbClr val="A30D24"/>
                </a:solidFill>
                <a:latin typeface="맑은 고딕"/>
              </a:rPr>
              <a:t>⚠️ run.bat 을 직접 열지 마세요. ③ [프로그램 실행] 을 눌러야 같은 자동화가 돕니다.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6400800"/>
            <a:ext cx="11521440" cy="27432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r"/>
            <a:r>
              <a:rPr sz="900" b="0">
                <a:solidFill>
                  <a:srgbClr val="777777"/>
                </a:solidFill>
                <a:latin typeface="맑은 고딕"/>
              </a:rPr>
              <a:t>COSMAX · 생산3팀 파우더 성형실    |    2 / 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247120" cy="54864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2. 잔여 휴가는 손대지 않습니다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43000"/>
            <a:ext cx="10698480" cy="54864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ctr"/>
            <a:r>
              <a:rPr sz="1700" b="1">
                <a:solidFill>
                  <a:srgbClr val="C8102E"/>
                </a:solidFill>
                <a:latin typeface="맑은 고딕"/>
              </a:rPr>
              <a:t>2026년 8월부터 잔여 차감을 서버가 매일 저녁 자동으로 합니다.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5167" y="1920240"/>
            <a:ext cx="5303520" cy="22860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83767" y="2103120"/>
            <a:ext cx="4846320" cy="4572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1700" b="1">
                <a:solidFill>
                  <a:srgbClr val="777777"/>
                </a:solidFill>
                <a:latin typeface="맑은 고딕"/>
              </a:rPr>
              <a:t>지금까지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83767" y="2697480"/>
            <a:ext cx="4846320" cy="13716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  <a:latin typeface="맑은 고딕"/>
              </a:rPr>
              <a:t>• 잔여가 안 맞으면 명단에서 손으로 고침
• 매번 확인이 필요했음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33007" y="1920240"/>
            <a:ext cx="5303520" cy="2286000"/>
          </a:xfrm>
          <a:prstGeom prst="roundRect">
            <a:avLst>
              <a:gd name="adj" fmla="val 12000"/>
            </a:avLst>
          </a:prstGeom>
          <a:solidFill>
            <a:srgbClr val="FF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61607" y="2103120"/>
            <a:ext cx="4846320" cy="4572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1700" b="1">
                <a:solidFill>
                  <a:srgbClr val="C8102E"/>
                </a:solidFill>
                <a:latin typeface="맑은 고딕"/>
              </a:rPr>
              <a:t>앞으로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61607" y="2697480"/>
            <a:ext cx="4846320" cy="13716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  <a:latin typeface="맑은 고딕"/>
              </a:rPr>
              <a:t>• 서버가 매일 저녁 자동 차감
• 서무는 아무것도 안 해도 됨
• 시간이 지나면 저절로 맞음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5167" y="4434840"/>
            <a:ext cx="10881360" cy="9144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29487" y="4434840"/>
            <a:ext cx="10332720" cy="91440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/>
            <a:r>
              <a:rPr sz="1350" b="0">
                <a:solidFill>
                  <a:srgbClr val="1A1A1A"/>
                </a:solidFill>
                <a:latin typeface="맑은 고딕"/>
              </a:rPr>
              <a:t>다만 연차는 그룹웨어 실제 잔여와 다르면 고쳐도 됩니다.
고친 시점이 새 기준이 되어 그 이전 휴가증은 다시 빠지지 않습니다.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5167" y="5486400"/>
            <a:ext cx="10881360" cy="822960"/>
          </a:xfrm>
          <a:prstGeom prst="roundRect">
            <a:avLst>
              <a:gd name="adj" fmla="val 12000"/>
            </a:avLst>
          </a:prstGeom>
          <a:solidFill>
            <a:srgbClr val="FF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29487" y="5486400"/>
            <a:ext cx="10332720" cy="82296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/>
            <a:r>
              <a:rPr sz="1350" b="1">
                <a:solidFill>
                  <a:srgbClr val="A30D24"/>
                </a:solidFill>
                <a:latin typeface="맑은 고딕"/>
              </a:rPr>
              <a:t>⚠️ 생휴 · 하기휴가 칸은 절대 손대지 마세요.
     손으로 줄이면 자동 차감이 또 빼서 마이너스가 됩니다.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6400800"/>
            <a:ext cx="11521440" cy="27432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r"/>
            <a:r>
              <a:rPr sz="900" b="0">
                <a:solidFill>
                  <a:srgbClr val="777777"/>
                </a:solidFill>
                <a:latin typeface="맑은 고딕"/>
              </a:rPr>
              <a:t>COSMAX · 생산3팀 파우더 성형실    |    3 / 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247120" cy="54864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3. 작업자 명단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10698480" cy="4572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ctr"/>
            <a:r>
              <a:rPr sz="1500" b="0">
                <a:solidFill>
                  <a:srgbClr val="1A1A1A"/>
                </a:solidFill>
                <a:latin typeface="맑은 고딕"/>
              </a:rPr>
              <a:t>상단 [작업자 명단] 을 누르면 전체 명단과 잔여 휴가가 보입니다.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5167" y="1828800"/>
            <a:ext cx="5303520" cy="2651760"/>
          </a:xfrm>
          <a:prstGeom prst="roundRect">
            <a:avLst>
              <a:gd name="adj" fmla="val 12000"/>
            </a:avLst>
          </a:prstGeom>
          <a:solidFill>
            <a:srgbClr val="FF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83767" y="2011680"/>
            <a:ext cx="4846320" cy="4572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1700" b="1">
                <a:solidFill>
                  <a:srgbClr val="C8102E"/>
                </a:solidFill>
                <a:latin typeface="맑은 고딕"/>
              </a:rPr>
              <a:t>할 수 있는 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83767" y="2651760"/>
            <a:ext cx="4846320" cy="164592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  <a:latin typeface="맑은 고딕"/>
              </a:rPr>
              <a:t>• 잔여 연차 수정 후 [저장]
• 이름 · 사번 · 근무지 확인
• 비밀번호 [초기화 요청]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33007" y="1828800"/>
            <a:ext cx="5303520" cy="265176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61607" y="2011680"/>
            <a:ext cx="4846320" cy="4572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1700" b="1">
                <a:solidFill>
                  <a:srgbClr val="777777"/>
                </a:solidFill>
                <a:latin typeface="맑은 고딕"/>
              </a:rPr>
              <a:t>관리자에게 요청할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61607" y="2651760"/>
            <a:ext cx="4846320" cy="164592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  <a:latin typeface="맑은 고딕"/>
              </a:rPr>
              <a:t>• 신규 입사자 명단 추가
• 퇴직자 명단 삭제
• 비밀번호 실제 초기화 처리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5167" y="4754880"/>
            <a:ext cx="10881360" cy="123444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29487" y="4754880"/>
            <a:ext cx="10332720" cy="123444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/>
            <a:r>
              <a:rPr sz="1350" b="0">
                <a:solidFill>
                  <a:srgbClr val="1A1A1A"/>
                </a:solidFill>
                <a:latin typeface="맑은 고딕"/>
              </a:rPr>
              <a:t>명단을 고친 뒤에는 관리자에게 알려 주세요.
이름 · 근무지는 로그인 화면에도 쓰이는 값이라 서버 쪽도 함께 맞춰야 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00800"/>
            <a:ext cx="11521440" cy="27432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r"/>
            <a:r>
              <a:rPr sz="900" b="0">
                <a:solidFill>
                  <a:srgbClr val="777777"/>
                </a:solidFill>
                <a:latin typeface="맑은 고딕"/>
              </a:rPr>
              <a:t>COSMAX · 생산3팀 파우더 성형실    |    4 / 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247120" cy="54864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4. 비밀번호 초기화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10698480" cy="4572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ctr"/>
            <a:r>
              <a:rPr sz="1500" b="0">
                <a:solidFill>
                  <a:srgbClr val="1A1A1A"/>
                </a:solidFill>
                <a:latin typeface="맑은 고딕"/>
              </a:rPr>
              <a:t>작업자가 비밀번호를 잊었을 때의 절차입니다.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5167" y="1828800"/>
            <a:ext cx="2514600" cy="2651760"/>
          </a:xfrm>
          <a:prstGeom prst="roundRect">
            <a:avLst>
              <a:gd name="adj" fmla="val 12000"/>
            </a:avLst>
          </a:prstGeom>
          <a:solidFill>
            <a:srgbClr val="FF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5167" y="2011680"/>
            <a:ext cx="2514600" cy="54864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ctr"/>
            <a:r>
              <a:rPr sz="3000" b="1">
                <a:solidFill>
                  <a:srgbClr val="C8102E"/>
                </a:solidFill>
                <a:latin typeface="맑은 고딕"/>
              </a:rPr>
              <a:t>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5167" y="2697480"/>
            <a:ext cx="2514600" cy="4572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ctr"/>
            <a:r>
              <a:rPr sz="1500" b="1">
                <a:solidFill>
                  <a:srgbClr val="1A1A1A"/>
                </a:solidFill>
                <a:latin typeface="맑은 고딕"/>
              </a:rPr>
              <a:t>[초기화 요청]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5167" y="3246120"/>
            <a:ext cx="2514600" cy="109728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ctr"/>
            <a:r>
              <a:rPr sz="1200" b="0">
                <a:solidFill>
                  <a:srgbClr val="777777"/>
                </a:solidFill>
                <a:latin typeface="맑은 고딕"/>
              </a:rPr>
              <a:t>명단에서 해당 작업자
행의 버튼을 누릅니다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44087" y="1828800"/>
            <a:ext cx="2514600" cy="2651760"/>
          </a:xfrm>
          <a:prstGeom prst="roundRect">
            <a:avLst>
              <a:gd name="adj" fmla="val 12000"/>
            </a:avLst>
          </a:prstGeom>
          <a:solidFill>
            <a:srgbClr val="FF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44087" y="2011680"/>
            <a:ext cx="2514600" cy="54864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ctr"/>
            <a:r>
              <a:rPr sz="3000" b="1">
                <a:solidFill>
                  <a:srgbClr val="C8102E"/>
                </a:solidFill>
                <a:latin typeface="맑은 고딕"/>
              </a:rPr>
              <a:t>②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44087" y="2697480"/>
            <a:ext cx="2514600" cy="4572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ctr"/>
            <a:r>
              <a:rPr sz="1500" b="1">
                <a:solidFill>
                  <a:srgbClr val="1A1A1A"/>
                </a:solidFill>
                <a:latin typeface="맑은 고딕"/>
              </a:rPr>
              <a:t>[초기화 대기]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44087" y="3246120"/>
            <a:ext cx="2514600" cy="109728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ctr"/>
            <a:r>
              <a:rPr sz="1200" b="0">
                <a:solidFill>
                  <a:srgbClr val="777777"/>
                </a:solidFill>
                <a:latin typeface="맑은 고딕"/>
              </a:rPr>
              <a:t>이름 옆에 표시가 붙습니다
아직 초기화 전입니다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33007" y="1828800"/>
            <a:ext cx="2514600" cy="2651760"/>
          </a:xfrm>
          <a:prstGeom prst="roundRect">
            <a:avLst>
              <a:gd name="adj" fmla="val 12000"/>
            </a:avLst>
          </a:prstGeom>
          <a:solidFill>
            <a:srgbClr val="FF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33007" y="2011680"/>
            <a:ext cx="2514600" cy="54864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ctr"/>
            <a:r>
              <a:rPr sz="3000" b="1">
                <a:solidFill>
                  <a:srgbClr val="C8102E"/>
                </a:solidFill>
                <a:latin typeface="맑은 고딕"/>
              </a:rPr>
              <a:t>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33007" y="2697480"/>
            <a:ext cx="2514600" cy="4572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ctr"/>
            <a:r>
              <a:rPr sz="1500" b="1">
                <a:solidFill>
                  <a:srgbClr val="1A1A1A"/>
                </a:solidFill>
                <a:latin typeface="맑은 고딕"/>
              </a:rPr>
              <a:t>관리자 처리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33007" y="3246120"/>
            <a:ext cx="2514600" cy="109728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ctr"/>
            <a:r>
              <a:rPr sz="1200" b="0">
                <a:solidFill>
                  <a:srgbClr val="777777"/>
                </a:solidFill>
                <a:latin typeface="맑은 고딕"/>
              </a:rPr>
              <a:t>표시가 사라지면
초기화된 것입니다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021927" y="1828800"/>
            <a:ext cx="2514600" cy="2651760"/>
          </a:xfrm>
          <a:prstGeom prst="roundRect">
            <a:avLst>
              <a:gd name="adj" fmla="val 12000"/>
            </a:avLst>
          </a:prstGeom>
          <a:solidFill>
            <a:srgbClr val="FF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021927" y="2011680"/>
            <a:ext cx="2514600" cy="54864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ctr"/>
            <a:r>
              <a:rPr sz="3000" b="1">
                <a:solidFill>
                  <a:srgbClr val="C8102E"/>
                </a:solidFill>
                <a:latin typeface="맑은 고딕"/>
              </a:rPr>
              <a:t>④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21927" y="2697480"/>
            <a:ext cx="2514600" cy="4572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ctr"/>
            <a:r>
              <a:rPr sz="1500" b="1">
                <a:solidFill>
                  <a:srgbClr val="1A1A1A"/>
                </a:solidFill>
                <a:latin typeface="맑은 고딕"/>
              </a:rPr>
              <a:t>사번 + 1234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21927" y="3246120"/>
            <a:ext cx="2514600" cy="109728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ctr"/>
            <a:r>
              <a:rPr sz="1200" b="0">
                <a:solidFill>
                  <a:srgbClr val="777777"/>
                </a:solidFill>
                <a:latin typeface="맑은 고딕"/>
              </a:rPr>
              <a:t>작업자에게 알려 주세요
로그인 후 새 비밀번호 등록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55167" y="4800600"/>
            <a:ext cx="10881360" cy="118872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29487" y="4800600"/>
            <a:ext cx="10332720" cy="11887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/>
            <a:r>
              <a:rPr sz="1350" b="0">
                <a:solidFill>
                  <a:srgbClr val="1A1A1A"/>
                </a:solidFill>
                <a:latin typeface="맑은 고딕"/>
              </a:rPr>
              <a:t>요청만으로는 초기화되지 않습니다. 관리자가 처리해야 [초기화 대기] 표시가 사라집니다.
비밀번호는 서버가 복원할 수 없는 형태로 보관하므로 초기화만 가능합니다.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" y="6400800"/>
            <a:ext cx="11521440" cy="27432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r"/>
            <a:r>
              <a:rPr sz="900" b="0">
                <a:solidFill>
                  <a:srgbClr val="777777"/>
                </a:solidFill>
                <a:latin typeface="맑은 고딕"/>
              </a:rPr>
              <a:t>COSMAX · 생산3팀 파우더 성형실    |    5 / 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247120" cy="54864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5. 이럴 땐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5167" y="1234440"/>
            <a:ext cx="10881360" cy="713232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29487" y="1234440"/>
            <a:ext cx="4754880" cy="713232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/>
            <a:r>
              <a:rPr sz="1300" b="1">
                <a:solidFill>
                  <a:srgbClr val="1A1A1A"/>
                </a:solidFill>
                <a:latin typeface="맑은 고딕"/>
              </a:rPr>
              <a:t>[서버에서 불러오기] 버튼이 안 보임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58687" y="1234440"/>
            <a:ext cx="5303520" cy="713232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/>
            <a:r>
              <a:rPr sz="1300" b="0">
                <a:solidFill>
                  <a:srgbClr val="777777"/>
                </a:solidFill>
                <a:latin typeface="맑은 고딕"/>
              </a:rPr>
              <a:t>→ 서무 사번으로 다시 로그인하세요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5167" y="2075688"/>
            <a:ext cx="10881360" cy="713232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29487" y="2075688"/>
            <a:ext cx="4754880" cy="713232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/>
            <a:r>
              <a:rPr sz="1300" b="1">
                <a:solidFill>
                  <a:srgbClr val="1A1A1A"/>
                </a:solidFill>
                <a:latin typeface="맑은 고딕"/>
              </a:rPr>
              <a:t>미처리 휴가증이 없다고 나옴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58687" y="2075688"/>
            <a:ext cx="5303520" cy="713232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/>
            <a:r>
              <a:rPr sz="1300" b="0">
                <a:solidFill>
                  <a:srgbClr val="777777"/>
                </a:solidFill>
                <a:latin typeface="맑은 고딕"/>
              </a:rPr>
              <a:t>→ 이미 가져왔거나, 7일 이후 사용 예정 건입니다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5167" y="2916936"/>
            <a:ext cx="10881360" cy="713232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29487" y="2916936"/>
            <a:ext cx="4754880" cy="713232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/>
            <a:r>
              <a:rPr sz="1300" b="1">
                <a:solidFill>
                  <a:srgbClr val="1A1A1A"/>
                </a:solidFill>
                <a:latin typeface="맑은 고딕"/>
              </a:rPr>
              <a:t>[프로그램 실행] 을 눌러도 자동화가 안 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58687" y="2916936"/>
            <a:ext cx="5303520" cy="713232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/>
            <a:r>
              <a:rPr sz="1300" b="0">
                <a:solidFill>
                  <a:srgbClr val="777777"/>
                </a:solidFill>
                <a:latin typeface="맑은 고딕"/>
              </a:rPr>
              <a:t>→ setup.bat 을 다시 실행해 주세요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5167" y="3758184"/>
            <a:ext cx="10881360" cy="713232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29487" y="3758184"/>
            <a:ext cx="4754880" cy="713232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/>
            <a:r>
              <a:rPr sz="1300" b="1">
                <a:solidFill>
                  <a:srgbClr val="1A1A1A"/>
                </a:solidFill>
                <a:latin typeface="맑은 고딕"/>
              </a:rPr>
              <a:t>자동화가 중간에 멈춤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58687" y="3758184"/>
            <a:ext cx="5303520" cy="713232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/>
            <a:r>
              <a:rPr sz="1300" b="0">
                <a:solidFill>
                  <a:srgbClr val="777777"/>
                </a:solidFill>
                <a:latin typeface="맑은 고딕"/>
              </a:rPr>
              <a:t>→ error_*.png 와 last_error.log 를 관리자에게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5167" y="4599432"/>
            <a:ext cx="10881360" cy="713232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29487" y="4599432"/>
            <a:ext cx="4754880" cy="713232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/>
            <a:r>
              <a:rPr sz="1300" b="1">
                <a:solidFill>
                  <a:srgbClr val="1A1A1A"/>
                </a:solidFill>
                <a:latin typeface="맑은 고딕"/>
              </a:rPr>
              <a:t>작업자가 잔여가 안 맞는다고 함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58687" y="4599432"/>
            <a:ext cx="5303520" cy="713232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/>
            <a:r>
              <a:rPr sz="1300" b="0">
                <a:solidFill>
                  <a:srgbClr val="777777"/>
                </a:solidFill>
                <a:latin typeface="맑은 고딕"/>
              </a:rPr>
              <a:t>→ 손으로 고치지 말고 관리자에게 알려 주세요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5167" y="5440680"/>
            <a:ext cx="10881360" cy="713232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29487" y="5440680"/>
            <a:ext cx="4754880" cy="713232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/>
            <a:r>
              <a:rPr sz="1300" b="1">
                <a:solidFill>
                  <a:srgbClr val="1A1A1A"/>
                </a:solidFill>
                <a:latin typeface="맑은 고딕"/>
              </a:rPr>
              <a:t>실수로 잘못된 휴가증을 처리함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58687" y="5440680"/>
            <a:ext cx="5303520" cy="713232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/>
            <a:r>
              <a:rPr sz="1300" b="0">
                <a:solidFill>
                  <a:srgbClr val="777777"/>
                </a:solidFill>
                <a:latin typeface="맑은 고딕"/>
              </a:rPr>
              <a:t>→ 관리자에게 요청하면 지울 수 있습니다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6400800"/>
            <a:ext cx="11521440" cy="27432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r"/>
            <a:r>
              <a:rPr sz="900" b="0">
                <a:solidFill>
                  <a:srgbClr val="777777"/>
                </a:solidFill>
                <a:latin typeface="맑은 고딕"/>
              </a:rPr>
              <a:t>COSMAX · 생산3팀 파우더 성형실    |    6 / 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