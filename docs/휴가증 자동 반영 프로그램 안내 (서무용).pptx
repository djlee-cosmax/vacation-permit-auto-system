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맑은 고딕"/>
              </a:rPr>
              <a:t>COSMAX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5156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800" b="1">
                <a:solidFill>
                  <a:srgbClr val="1A1A1A"/>
                </a:solidFill>
                <a:latin typeface="맑은 고딕"/>
              </a:rPr>
              <a:t>휴가증 자동 반영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5156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0">
                <a:solidFill>
                  <a:srgbClr val="777777"/>
                </a:solidFill>
                <a:latin typeface="맑은 고딕"/>
              </a:rPr>
              <a:t>서무 담당자 안내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182880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5156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맑은 고딕"/>
              </a:rPr>
              <a:t>매일 하는 일은 세 번의 클릭입니다.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맑은 고딕"/>
              </a:rPr>
              <a:t>발행: 2026-08-26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1. 매일 하는 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맑은 고딕"/>
              </a:rPr>
              <a:t>화면 오른쪽 위 버튼을 ① ② ③ 순서대로 누르면 끝입니다.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1783080"/>
            <a:ext cx="3444240" cy="265176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167" y="1965960"/>
            <a:ext cx="34442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600" b="1">
                <a:solidFill>
                  <a:srgbClr val="C8102E"/>
                </a:solidFill>
                <a:latin typeface="맑은 고딕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167" y="2743200"/>
            <a:ext cx="34442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맑은 고딕"/>
              </a:rPr>
              <a:t>서버에서 불러오기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3291840"/>
            <a:ext cx="344424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50" b="0">
                <a:solidFill>
                  <a:srgbClr val="777777"/>
                </a:solidFill>
                <a:latin typeface="맑은 고딕"/>
              </a:rPr>
              <a:t>작업자가 올린 휴가증을
가져옵니다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727" y="1783080"/>
            <a:ext cx="3444240" cy="265176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3727" y="1965960"/>
            <a:ext cx="34442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600" b="1">
                <a:solidFill>
                  <a:srgbClr val="C8102E"/>
                </a:solidFill>
                <a:latin typeface="맑은 고딕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3727" y="2743200"/>
            <a:ext cx="34442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맑은 고딕"/>
              </a:rPr>
              <a:t>파일로 내보내기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727" y="3291840"/>
            <a:ext cx="344424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50" b="0">
                <a:solidFill>
                  <a:srgbClr val="777777"/>
                </a:solidFill>
                <a:latin typeface="맑은 고딕"/>
              </a:rPr>
              <a:t>JSON · XLSX 가
다운로드 폴더에 저장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287" y="1783080"/>
            <a:ext cx="3444240" cy="265176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287" y="1965960"/>
            <a:ext cx="34442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600" b="1">
                <a:solidFill>
                  <a:srgbClr val="C8102E"/>
                </a:solidFill>
                <a:latin typeface="맑은 고딕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287" y="2743200"/>
            <a:ext cx="34442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맑은 고딕"/>
              </a:rPr>
              <a:t>프로그램 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287" y="3291840"/>
            <a:ext cx="344424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50" b="0">
                <a:solidFill>
                  <a:srgbClr val="777777"/>
                </a:solidFill>
                <a:latin typeface="맑은 고딕"/>
              </a:rPr>
              <a:t>자동화가 그룹웨어에
임시저장합니다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167" y="470916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87" y="4709160"/>
            <a:ext cx="1033272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맑은 고딕"/>
              </a:rPr>
              <a:t>④ 그룹웨어에서 내용을 검토하고 직접 신청합니다 — 마지막 확인은 사람이 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167" y="5623560"/>
            <a:ext cx="10881360" cy="68580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487" y="5623560"/>
            <a:ext cx="1033272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50" b="1">
                <a:solidFill>
                  <a:srgbClr val="A30D24"/>
                </a:solidFill>
                <a:latin typeface="맑은 고딕"/>
              </a:rPr>
              <a:t>⚠️ run.bat 을 직접 열지 마세요. ③ [프로그램 실행] 을 눌러야 같은 자동화가 돕니다.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00800"/>
            <a:ext cx="115214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맑은 고딕"/>
              </a:rPr>
              <a:t>COSMAX    |   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2. 잔여 휴가는 손대지 않습니다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700" b="1">
                <a:solidFill>
                  <a:srgbClr val="C8102E"/>
                </a:solidFill>
                <a:latin typeface="맑은 고딕"/>
              </a:rPr>
              <a:t>2026년 8월부터 잔여 차감을 서버가 매일 저녁 자동으로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1920240"/>
            <a:ext cx="5303520" cy="2286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3767" y="2103120"/>
            <a:ext cx="48463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777777"/>
                </a:solidFill>
                <a:latin typeface="맑은 고딕"/>
              </a:rPr>
              <a:t>지금까지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767" y="2697480"/>
            <a:ext cx="484632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• 잔여가 안 맞으면 명단에서 손으로 고침
• 매번 확인이 필요했음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920240"/>
            <a:ext cx="5303520" cy="228600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2103120"/>
            <a:ext cx="48463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C8102E"/>
                </a:solidFill>
                <a:latin typeface="맑은 고딕"/>
              </a:rPr>
              <a:t>앞으로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697480"/>
            <a:ext cx="484632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• 서버가 매일 저녁 자동 차감
• 서무는 아무것도 안 해도 됨
• 시간이 지나면 저절로 맞음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167" y="443484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9487" y="4434840"/>
            <a:ext cx="10332720" cy="9144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맑은 고딕"/>
              </a:rPr>
              <a:t>다만 연차는 그룹웨어 실제 잔여와 다르면 고쳐도 됩니다.
고친 시점이 새 기준이 되어 그 이전 휴가증은 다시 빠지지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5167" y="5486400"/>
            <a:ext cx="10881360" cy="82296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487" y="5486400"/>
            <a:ext cx="10332720" cy="822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50" b="1">
                <a:solidFill>
                  <a:srgbClr val="A30D24"/>
                </a:solidFill>
                <a:latin typeface="맑은 고딕"/>
              </a:rPr>
              <a:t>⚠️ 생휴 · 하기휴가 칸은 절대 손대지 마세요.
     손으로 줄이면 자동 차감이 또 빼서 마이너스가 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00800"/>
            <a:ext cx="115214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맑은 고딕"/>
              </a:rPr>
              <a:t>COSMAX    |   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3. 작업자 명단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맑은 고딕"/>
              </a:rPr>
              <a:t>상단 [작업자 명단] 을 누르면 전체 명단과 잔여 휴가가 보입니다.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1828800"/>
            <a:ext cx="5303520" cy="265176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3767" y="2011680"/>
            <a:ext cx="48463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C8102E"/>
                </a:solidFill>
                <a:latin typeface="맑은 고딕"/>
              </a:rPr>
              <a:t>할 수 있는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767" y="2651760"/>
            <a:ext cx="4846320" cy="1645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• 잔여 연차 수정 후 [저장]
• 이름 · 사번 · 근무지 확인
• 비밀번호 [초기화 요청]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828800"/>
            <a:ext cx="5303520" cy="265176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2011680"/>
            <a:ext cx="48463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777777"/>
                </a:solidFill>
                <a:latin typeface="맑은 고딕"/>
              </a:rPr>
              <a:t>관리자에게 요청할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651760"/>
            <a:ext cx="4846320" cy="1645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• 신규 입사자 명단 추가
• 퇴직자 명단 삭제
• 비밀번호 실제 초기화 처리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167" y="4754880"/>
            <a:ext cx="10881360" cy="12344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9487" y="4754880"/>
            <a:ext cx="10332720" cy="12344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맑은 고딕"/>
              </a:rPr>
              <a:t>명단을 고친 뒤에는 관리자에게 알려 주세요.
이름 · 근무지는 로그인 화면에도 쓰이는 값이라 서버 쪽도 함께 맞춰야 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00800"/>
            <a:ext cx="115214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맑은 고딕"/>
              </a:rPr>
              <a:t>COSMAX    |   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4. 비밀번호 초기화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맑은 고딕"/>
              </a:rPr>
              <a:t>작업자가 비밀번호를 잊었을 때의 절차입니다.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1828800"/>
            <a:ext cx="2514600" cy="265176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167" y="2011680"/>
            <a:ext cx="25146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000" b="1">
                <a:solidFill>
                  <a:srgbClr val="C8102E"/>
                </a:solidFill>
                <a:latin typeface="맑은 고딕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167" y="2697480"/>
            <a:ext cx="2514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맑은 고딕"/>
              </a:rPr>
              <a:t>[초기화 요청]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3246120"/>
            <a:ext cx="2514600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>
                <a:solidFill>
                  <a:srgbClr val="777777"/>
                </a:solidFill>
                <a:latin typeface="맑은 고딕"/>
              </a:rPr>
              <a:t>명단에서 해당 작업자
행의 버튼을 누릅니다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4087" y="1828800"/>
            <a:ext cx="2514600" cy="265176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4087" y="2011680"/>
            <a:ext cx="25146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000" b="1">
                <a:solidFill>
                  <a:srgbClr val="C8102E"/>
                </a:solidFill>
                <a:latin typeface="맑은 고딕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4087" y="2697480"/>
            <a:ext cx="2514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맑은 고딕"/>
              </a:rPr>
              <a:t>[초기화 대기]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4087" y="3246120"/>
            <a:ext cx="2514600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>
                <a:solidFill>
                  <a:srgbClr val="777777"/>
                </a:solidFill>
                <a:latin typeface="맑은 고딕"/>
              </a:rPr>
              <a:t>이름 옆에 표시가 붙습니다
아직 초기화 전입니다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28800"/>
            <a:ext cx="2514600" cy="265176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2011680"/>
            <a:ext cx="25146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000" b="1">
                <a:solidFill>
                  <a:srgbClr val="C8102E"/>
                </a:solidFill>
                <a:latin typeface="맑은 고딕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2697480"/>
            <a:ext cx="2514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맑은 고딕"/>
              </a:rPr>
              <a:t>관리자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3246120"/>
            <a:ext cx="2514600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>
                <a:solidFill>
                  <a:srgbClr val="777777"/>
                </a:solidFill>
                <a:latin typeface="맑은 고딕"/>
              </a:rPr>
              <a:t>표시가 사라지면
초기화된 것입니다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1927" y="1828800"/>
            <a:ext cx="2514600" cy="265176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1927" y="2011680"/>
            <a:ext cx="25146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000" b="1">
                <a:solidFill>
                  <a:srgbClr val="C8102E"/>
                </a:solidFill>
                <a:latin typeface="맑은 고딕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1927" y="2697480"/>
            <a:ext cx="2514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맑은 고딕"/>
              </a:rPr>
              <a:t>사번 + 1234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1927" y="3246120"/>
            <a:ext cx="2514600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>
                <a:solidFill>
                  <a:srgbClr val="777777"/>
                </a:solidFill>
                <a:latin typeface="맑은 고딕"/>
              </a:rPr>
              <a:t>작업자에게 알려 주세요
로그인 후 새 비밀번호 등록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167" y="4800600"/>
            <a:ext cx="10881360" cy="118872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487" y="4800600"/>
            <a:ext cx="10332720" cy="11887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맑은 고딕"/>
              </a:rPr>
              <a:t>요청만으로는 초기화되지 않습니다. 관리자가 처리해야 [초기화 대기] 표시가 사라집니다.
비밀번호는 서버가 복원할 수 없는 형태로 보관하므로 초기화만 가능합니다.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00800"/>
            <a:ext cx="115214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맑은 고딕"/>
              </a:rPr>
              <a:t>COSMAX    |   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5. 이럴 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5167" y="1234440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9487" y="1234440"/>
            <a:ext cx="475488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[서버에서 불러오기] 버튼이 안 보임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58687" y="1234440"/>
            <a:ext cx="53035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맑은 고딕"/>
              </a:rPr>
              <a:t>→ 서무 사번으로 다시 로그인하세요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2075688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9487" y="2075688"/>
            <a:ext cx="475488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미처리 휴가증이 없다고 나옴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8687" y="2075688"/>
            <a:ext cx="53035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맑은 고딕"/>
              </a:rPr>
              <a:t>→ 이미 가져왔거나, 7일 이후 사용 예정 건입니다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5167" y="2916936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487" y="2916936"/>
            <a:ext cx="475488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[프로그램 실행] 을 눌러도 자동화가 안 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8687" y="2916936"/>
            <a:ext cx="53035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맑은 고딕"/>
              </a:rPr>
              <a:t>→ setup.bat 을 다시 실행해 주세요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5167" y="3758184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487" y="3758184"/>
            <a:ext cx="475488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자동화가 중간에 멈춤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8687" y="3758184"/>
            <a:ext cx="53035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맑은 고딕"/>
              </a:rPr>
              <a:t>→ error_*.png 와 last_error.log 를 관리자에게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5167" y="4599432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487" y="4599432"/>
            <a:ext cx="475488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작업자가 잔여가 안 맞는다고 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8687" y="4599432"/>
            <a:ext cx="53035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맑은 고딕"/>
              </a:rPr>
              <a:t>→ 손으로 고치지 말고 관리자에게 알려 주세요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167" y="5440680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487" y="5440680"/>
            <a:ext cx="475488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실수로 잘못된 휴가증을 처리함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8687" y="5440680"/>
            <a:ext cx="530352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맑은 고딕"/>
              </a:rPr>
              <a:t>→ 관리자에게 요청하면 지울 수 있습니다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00800"/>
            <a:ext cx="115214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맑은 고딕"/>
              </a:rPr>
              <a:t>COSMAX    |   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